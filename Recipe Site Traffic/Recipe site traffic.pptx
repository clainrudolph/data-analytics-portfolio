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256" r:id="rId5"/>
    <p:sldId id="258" r:id="rId6"/>
    <p:sldId id="281" r:id="rId7"/>
    <p:sldId id="282" r:id="rId8"/>
    <p:sldId id="284" r:id="rId9"/>
    <p:sldId id="283" r:id="rId10"/>
    <p:sldId id="286" r:id="rId11"/>
    <p:sldId id="285" r:id="rId12"/>
    <p:sldId id="289" r:id="rId13"/>
    <p:sldId id="287" r:id="rId14"/>
    <p:sldId id="28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0655" autoAdjust="0"/>
  </p:normalViewPr>
  <p:slideViewPr>
    <p:cSldViewPr snapToGrid="0">
      <p:cViewPr varScale="1">
        <p:scale>
          <a:sx n="92" d="100"/>
          <a:sy n="92" d="100"/>
        </p:scale>
        <p:origin x="668" y="284"/>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9/21/2025</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9/21/2025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1025326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236659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575465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840986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83DB2-9AF0-F9AB-D9B3-22EEA2A0F0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7D1C6-1925-D891-622B-CD8C373253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09940E-2121-A720-A35F-15316A0881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67AD5D-B3C0-C502-06DA-97E504E2AB10}"/>
              </a:ext>
            </a:extLst>
          </p:cNvPr>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3806748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8</a:t>
            </a:fld>
            <a:endParaRPr lang="en-US" dirty="0"/>
          </a:p>
        </p:txBody>
      </p:sp>
    </p:spTree>
    <p:extLst>
      <p:ext uri="{BB962C8B-B14F-4D97-AF65-F5344CB8AC3E}">
        <p14:creationId xmlns:p14="http://schemas.microsoft.com/office/powerpoint/2010/main" val="537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C6E72-6F44-E7A5-78CF-3138799EF1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6F6DA-7FC0-5257-85EF-4500812635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27AF1-9673-A20C-9823-68BC7E3C00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9E582C-C2C2-D0FD-75BE-089AD5864AAF}"/>
              </a:ext>
            </a:extLst>
          </p:cNvPr>
          <p:cNvSpPr>
            <a:spLocks noGrp="1"/>
          </p:cNvSpPr>
          <p:nvPr>
            <p:ph type="sldNum" sz="quarter" idx="5"/>
          </p:nvPr>
        </p:nvSpPr>
        <p:spPr/>
        <p:txBody>
          <a:bodyPr/>
          <a:lstStyle/>
          <a:p>
            <a:fld id="{22289C57-55D7-40A4-A101-E74FAC7A092B}" type="slidenum">
              <a:rPr lang="en-US" smtClean="0"/>
              <a:t>9</a:t>
            </a:fld>
            <a:endParaRPr lang="en-US" dirty="0"/>
          </a:p>
        </p:txBody>
      </p:sp>
    </p:spTree>
    <p:extLst>
      <p:ext uri="{BB962C8B-B14F-4D97-AF65-F5344CB8AC3E}">
        <p14:creationId xmlns:p14="http://schemas.microsoft.com/office/powerpoint/2010/main" val="3676894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7559D-86B0-6F7C-85B3-6DFEC7B36F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BB532-72BD-5040-0785-9A1DB40FB3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C5D8E4-362D-933E-D049-87C664A4F7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C172D9-9485-4DDC-3E76-31FB5C9DBC2D}"/>
              </a:ext>
            </a:extLst>
          </p:cNvPr>
          <p:cNvSpPr>
            <a:spLocks noGrp="1"/>
          </p:cNvSpPr>
          <p:nvPr>
            <p:ph type="sldNum" sz="quarter" idx="5"/>
          </p:nvPr>
        </p:nvSpPr>
        <p:spPr/>
        <p:txBody>
          <a:bodyPr/>
          <a:lstStyle/>
          <a:p>
            <a:fld id="{22289C57-55D7-40A4-A101-E74FAC7A092B}" type="slidenum">
              <a:rPr lang="en-US" smtClean="0"/>
              <a:t>10</a:t>
            </a:fld>
            <a:endParaRPr lang="en-US" dirty="0"/>
          </a:p>
        </p:txBody>
      </p:sp>
    </p:spTree>
    <p:extLst>
      <p:ext uri="{BB962C8B-B14F-4D97-AF65-F5344CB8AC3E}">
        <p14:creationId xmlns:p14="http://schemas.microsoft.com/office/powerpoint/2010/main" val="24015856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D654C-9426-D88C-587E-F1AB1FBC4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660F0-BF78-9971-D37A-01FD6D8FC7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0D5802-EDE6-A951-F4E3-2A61E5933C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CC2DB7-48B7-E50D-5D3F-ABC84756F5E9}"/>
              </a:ext>
            </a:extLst>
          </p:cNvPr>
          <p:cNvSpPr>
            <a:spLocks noGrp="1"/>
          </p:cNvSpPr>
          <p:nvPr>
            <p:ph type="sldNum" sz="quarter" idx="5"/>
          </p:nvPr>
        </p:nvSpPr>
        <p:spPr/>
        <p:txBody>
          <a:bodyPr/>
          <a:lstStyle/>
          <a:p>
            <a:fld id="{22289C57-55D7-40A4-A101-E74FAC7A092B}" type="slidenum">
              <a:rPr lang="en-US" smtClean="0"/>
              <a:t>11</a:t>
            </a:fld>
            <a:endParaRPr lang="en-US" dirty="0"/>
          </a:p>
        </p:txBody>
      </p:sp>
    </p:spTree>
    <p:extLst>
      <p:ext uri="{BB962C8B-B14F-4D97-AF65-F5344CB8AC3E}">
        <p14:creationId xmlns:p14="http://schemas.microsoft.com/office/powerpoint/2010/main" val="27060966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7293972" y="3429000"/>
            <a:ext cx="4371556" cy="2022764"/>
          </a:xfrm>
        </p:spPr>
        <p:txBody>
          <a:bodyPr anchor="ctr"/>
          <a:lstStyle/>
          <a:p>
            <a:r>
              <a:rPr lang="en-US" sz="4000" dirty="0"/>
              <a:t>Recipe site traffic</a:t>
            </a:r>
          </a:p>
        </p:txBody>
      </p:sp>
      <p:sp>
        <p:nvSpPr>
          <p:cNvPr id="3" name="TextBox 2">
            <a:extLst>
              <a:ext uri="{FF2B5EF4-FFF2-40B4-BE49-F238E27FC236}">
                <a16:creationId xmlns:a16="http://schemas.microsoft.com/office/drawing/2014/main" id="{B7F98770-0680-7E0E-E043-C5367FE7F6D0}"/>
              </a:ext>
            </a:extLst>
          </p:cNvPr>
          <p:cNvSpPr txBox="1"/>
          <p:nvPr/>
        </p:nvSpPr>
        <p:spPr>
          <a:xfrm>
            <a:off x="7293972" y="5451764"/>
            <a:ext cx="4620937" cy="400110"/>
          </a:xfrm>
          <a:prstGeom prst="rect">
            <a:avLst/>
          </a:prstGeom>
          <a:noFill/>
        </p:spPr>
        <p:txBody>
          <a:bodyPr wrap="square" rtlCol="0">
            <a:spAutoFit/>
          </a:bodyPr>
          <a:lstStyle/>
          <a:p>
            <a:r>
              <a:rPr lang="en-US" sz="2000" dirty="0"/>
              <a:t>Clain Rudolph B. Asuncion</a:t>
            </a:r>
            <a:endParaRPr lang="en-PH" sz="2000" dirty="0"/>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22388" y="1350818"/>
            <a:ext cx="3623755" cy="893246"/>
          </a:xfrm>
        </p:spPr>
        <p:txBody>
          <a:bodyPr>
            <a:normAutofit/>
          </a:bodyPr>
          <a:lstStyle/>
          <a:p>
            <a:r>
              <a:rPr lang="en-US" sz="3600" dirty="0"/>
              <a:t>Business goal</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322388" y="2797714"/>
            <a:ext cx="7288212" cy="3407051"/>
          </a:xfrm>
        </p:spPr>
        <p:txBody>
          <a:bodyPr>
            <a:normAutofit/>
          </a:bodyPr>
          <a:lstStyle/>
          <a:p>
            <a:pPr lvl="1"/>
            <a:r>
              <a:rPr lang="en-US" sz="2000" dirty="0"/>
              <a:t>Accurately predicting high-traffic recipes for homepage placement</a:t>
            </a:r>
          </a:p>
          <a:p>
            <a:pPr lvl="1"/>
            <a:r>
              <a:rPr lang="en-US" sz="2000" dirty="0"/>
              <a:t>Replacing intuition-based selection with a scalable, data-driven approach</a:t>
            </a:r>
          </a:p>
          <a:p>
            <a:pPr lvl="1"/>
            <a:r>
              <a:rPr lang="en-US" sz="2000" dirty="0"/>
              <a:t>Driving sustained traffic growth through improved content curation</a:t>
            </a: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2E6A-35EC-1B8E-0FD7-8C67870ACA64}"/>
              </a:ext>
            </a:extLst>
          </p:cNvPr>
          <p:cNvSpPr>
            <a:spLocks noGrp="1"/>
          </p:cNvSpPr>
          <p:nvPr>
            <p:ph type="title"/>
          </p:nvPr>
        </p:nvSpPr>
        <p:spPr>
          <a:xfrm>
            <a:off x="2968336" y="547756"/>
            <a:ext cx="5205845" cy="611076"/>
          </a:xfrm>
        </p:spPr>
        <p:txBody>
          <a:bodyPr>
            <a:normAutofit/>
          </a:bodyPr>
          <a:lstStyle/>
          <a:p>
            <a:r>
              <a:rPr lang="en-US" sz="3200" dirty="0"/>
              <a:t>Data Cleaning</a:t>
            </a:r>
          </a:p>
        </p:txBody>
      </p:sp>
      <p:sp>
        <p:nvSpPr>
          <p:cNvPr id="8" name="Slide Number Placeholder 7">
            <a:extLst>
              <a:ext uri="{FF2B5EF4-FFF2-40B4-BE49-F238E27FC236}">
                <a16:creationId xmlns:a16="http://schemas.microsoft.com/office/drawing/2014/main" id="{8F44A959-C2BB-9170-C99C-1A2EDB71B994}"/>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3</a:t>
            </a:fld>
            <a:endParaRPr lang="en-US" dirty="0"/>
          </a:p>
        </p:txBody>
      </p:sp>
      <p:pic>
        <p:nvPicPr>
          <p:cNvPr id="16" name="Content Placeholder 15">
            <a:extLst>
              <a:ext uri="{FF2B5EF4-FFF2-40B4-BE49-F238E27FC236}">
                <a16:creationId xmlns:a16="http://schemas.microsoft.com/office/drawing/2014/main" id="{1858941A-4DB7-2D48-4EAB-D9EBFC1B7DA4}"/>
              </a:ext>
            </a:extLst>
          </p:cNvPr>
          <p:cNvPicPr>
            <a:picLocks noGrp="1" noChangeAspect="1"/>
          </p:cNvPicPr>
          <p:nvPr>
            <p:ph sz="half" idx="14"/>
          </p:nvPr>
        </p:nvPicPr>
        <p:blipFill>
          <a:blip r:embed="rId3"/>
          <a:srcRect l="6822" r="4758"/>
          <a:stretch>
            <a:fillRect/>
          </a:stretch>
        </p:blipFill>
        <p:spPr>
          <a:xfrm>
            <a:off x="2154981" y="1728195"/>
            <a:ext cx="9331399" cy="1934122"/>
          </a:xfrm>
          <a:prstGeom prst="rect">
            <a:avLst/>
          </a:prstGeom>
        </p:spPr>
      </p:pic>
      <p:pic>
        <p:nvPicPr>
          <p:cNvPr id="18" name="Picture 17">
            <a:extLst>
              <a:ext uri="{FF2B5EF4-FFF2-40B4-BE49-F238E27FC236}">
                <a16:creationId xmlns:a16="http://schemas.microsoft.com/office/drawing/2014/main" id="{3F51C967-077B-4190-6084-8DA72F4CE2A2}"/>
              </a:ext>
            </a:extLst>
          </p:cNvPr>
          <p:cNvPicPr>
            <a:picLocks noChangeAspect="1"/>
          </p:cNvPicPr>
          <p:nvPr/>
        </p:nvPicPr>
        <p:blipFill>
          <a:blip r:embed="rId4"/>
          <a:srcRect l="6149" r="4621"/>
          <a:stretch>
            <a:fillRect/>
          </a:stretch>
        </p:blipFill>
        <p:spPr>
          <a:xfrm>
            <a:off x="2154980" y="4243531"/>
            <a:ext cx="9331400" cy="1848268"/>
          </a:xfrm>
          <a:prstGeom prst="rect">
            <a:avLst/>
          </a:prstGeom>
        </p:spPr>
      </p:pic>
      <p:sp>
        <p:nvSpPr>
          <p:cNvPr id="19" name="TextBox 18">
            <a:extLst>
              <a:ext uri="{FF2B5EF4-FFF2-40B4-BE49-F238E27FC236}">
                <a16:creationId xmlns:a16="http://schemas.microsoft.com/office/drawing/2014/main" id="{0249EC25-192E-17AE-0F75-C3F31C6DE629}"/>
              </a:ext>
            </a:extLst>
          </p:cNvPr>
          <p:cNvSpPr txBox="1"/>
          <p:nvPr/>
        </p:nvSpPr>
        <p:spPr>
          <a:xfrm>
            <a:off x="2154980" y="1389641"/>
            <a:ext cx="1607128" cy="338554"/>
          </a:xfrm>
          <a:prstGeom prst="rect">
            <a:avLst/>
          </a:prstGeom>
          <a:noFill/>
        </p:spPr>
        <p:txBody>
          <a:bodyPr wrap="square" rtlCol="0">
            <a:spAutoFit/>
          </a:bodyPr>
          <a:lstStyle/>
          <a:p>
            <a:r>
              <a:rPr lang="en-US" sz="1600" dirty="0"/>
              <a:t>Initial Data:</a:t>
            </a:r>
            <a:endParaRPr lang="en-PH" sz="1600" dirty="0"/>
          </a:p>
        </p:txBody>
      </p:sp>
      <p:sp>
        <p:nvSpPr>
          <p:cNvPr id="22" name="TextBox 21">
            <a:extLst>
              <a:ext uri="{FF2B5EF4-FFF2-40B4-BE49-F238E27FC236}">
                <a16:creationId xmlns:a16="http://schemas.microsoft.com/office/drawing/2014/main" id="{EC9EBBB7-0307-2FEE-3B85-B88CDE1240F2}"/>
              </a:ext>
            </a:extLst>
          </p:cNvPr>
          <p:cNvSpPr txBox="1"/>
          <p:nvPr/>
        </p:nvSpPr>
        <p:spPr>
          <a:xfrm>
            <a:off x="2154980" y="3893126"/>
            <a:ext cx="6096000" cy="338554"/>
          </a:xfrm>
          <a:prstGeom prst="rect">
            <a:avLst/>
          </a:prstGeom>
          <a:noFill/>
        </p:spPr>
        <p:txBody>
          <a:bodyPr wrap="square">
            <a:spAutoFit/>
          </a:bodyPr>
          <a:lstStyle/>
          <a:p>
            <a:r>
              <a:rPr lang="en-US" sz="1600" dirty="0"/>
              <a:t>Cleaned Data:</a:t>
            </a:r>
            <a:endParaRPr lang="en-PH" sz="1600" dirty="0"/>
          </a:p>
        </p:txBody>
      </p:sp>
    </p:spTree>
    <p:extLst>
      <p:ext uri="{BB962C8B-B14F-4D97-AF65-F5344CB8AC3E}">
        <p14:creationId xmlns:p14="http://schemas.microsoft.com/office/powerpoint/2010/main" val="103458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D9B3-B64F-656A-0D99-161A6C0F518F}"/>
              </a:ext>
            </a:extLst>
          </p:cNvPr>
          <p:cNvSpPr>
            <a:spLocks noGrp="1"/>
          </p:cNvSpPr>
          <p:nvPr>
            <p:ph type="title"/>
          </p:nvPr>
        </p:nvSpPr>
        <p:spPr>
          <a:xfrm>
            <a:off x="599902" y="368906"/>
            <a:ext cx="7546571" cy="670187"/>
          </a:xfrm>
        </p:spPr>
        <p:txBody>
          <a:bodyPr/>
          <a:lstStyle/>
          <a:p>
            <a:r>
              <a:rPr lang="en-US" dirty="0"/>
              <a:t>EXPLORATORY ANALYSIS</a:t>
            </a:r>
          </a:p>
        </p:txBody>
      </p:sp>
      <p:sp>
        <p:nvSpPr>
          <p:cNvPr id="68" name="Slide Number Placeholder 67">
            <a:extLst>
              <a:ext uri="{FF2B5EF4-FFF2-40B4-BE49-F238E27FC236}">
                <a16:creationId xmlns:a16="http://schemas.microsoft.com/office/drawing/2014/main" id="{AA0ACADD-CC4E-851C-DA07-C22DB97FA23E}"/>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4</a:t>
            </a:fld>
            <a:endParaRPr lang="en-US" dirty="0"/>
          </a:p>
        </p:txBody>
      </p:sp>
      <p:pic>
        <p:nvPicPr>
          <p:cNvPr id="1026" name="Picture 2">
            <a:extLst>
              <a:ext uri="{FF2B5EF4-FFF2-40B4-BE49-F238E27FC236}">
                <a16:creationId xmlns:a16="http://schemas.microsoft.com/office/drawing/2014/main" id="{D5C6A9BF-D68A-18B4-0D7E-9F9D82DDC9A8}"/>
              </a:ext>
            </a:extLst>
          </p:cNvPr>
          <p:cNvPicPr>
            <a:picLocks noGrp="1" noChangeAspect="1" noChangeArrowheads="1"/>
          </p:cNvPicPr>
          <p:nvPr>
            <p:ph sz="half" idx="14"/>
          </p:nvPr>
        </p:nvPicPr>
        <p:blipFill>
          <a:blip r:embed="rId3">
            <a:extLst>
              <a:ext uri="{28A0092B-C50C-407E-A947-70E740481C1C}">
                <a14:useLocalDpi xmlns:a14="http://schemas.microsoft.com/office/drawing/2010/main" val="0"/>
              </a:ext>
            </a:extLst>
          </a:blip>
          <a:srcRect/>
          <a:stretch>
            <a:fillRect/>
          </a:stretch>
        </p:blipFill>
        <p:spPr bwMode="auto">
          <a:xfrm>
            <a:off x="599902" y="1086094"/>
            <a:ext cx="10920153" cy="5270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929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3FD745DC-C3D1-EEAE-A2D4-19BD296A2E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080" y="739777"/>
            <a:ext cx="7369301" cy="3699903"/>
          </a:xfrm>
          <a:prstGeom prst="rect">
            <a:avLst/>
          </a:prstGeom>
          <a:noFill/>
          <a:extLst>
            <a:ext uri="{909E8E84-426E-40DD-AFC4-6F175D3DCCD1}">
              <a14:hiddenFill xmlns:a14="http://schemas.microsoft.com/office/drawing/2010/main">
                <a:solidFill>
                  <a:srgbClr val="FFFFFF"/>
                </a:solidFill>
              </a14:hiddenFill>
            </a:ext>
          </a:extLst>
        </p:spPr>
      </p:pic>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5</a:t>
            </a:fld>
            <a:endParaRPr lang="en-US" dirty="0"/>
          </a:p>
        </p:txBody>
      </p:sp>
      <p:sp>
        <p:nvSpPr>
          <p:cNvPr id="4" name="TextBox 3">
            <a:extLst>
              <a:ext uri="{FF2B5EF4-FFF2-40B4-BE49-F238E27FC236}">
                <a16:creationId xmlns:a16="http://schemas.microsoft.com/office/drawing/2014/main" id="{18703431-59DE-9EB5-0CA4-DEAAB994301C}"/>
              </a:ext>
            </a:extLst>
          </p:cNvPr>
          <p:cNvSpPr txBox="1"/>
          <p:nvPr/>
        </p:nvSpPr>
        <p:spPr>
          <a:xfrm>
            <a:off x="881081" y="5006416"/>
            <a:ext cx="10015519" cy="923330"/>
          </a:xfrm>
          <a:prstGeom prst="rect">
            <a:avLst/>
          </a:prstGeom>
          <a:noFill/>
        </p:spPr>
        <p:txBody>
          <a:bodyPr wrap="square">
            <a:spAutoFit/>
          </a:bodyPr>
          <a:lstStyle/>
          <a:p>
            <a:r>
              <a:rPr lang="en-US" sz="1800" dirty="0"/>
              <a:t>The count plot shows that recipes with higher servings—especially 4 and 6—are more common in high-traffic categories, suggesting that popular recipes tend to serve more people. This highlights a link between serving size and recipe visibility.</a:t>
            </a:r>
            <a:endParaRPr lang="en-PH" sz="1800" dirty="0"/>
          </a:p>
        </p:txBody>
      </p:sp>
    </p:spTree>
    <p:extLst>
      <p:ext uri="{BB962C8B-B14F-4D97-AF65-F5344CB8AC3E}">
        <p14:creationId xmlns:p14="http://schemas.microsoft.com/office/powerpoint/2010/main" val="2403577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a:extLst>
              <a:ext uri="{FF2B5EF4-FFF2-40B4-BE49-F238E27FC236}">
                <a16:creationId xmlns:a16="http://schemas.microsoft.com/office/drawing/2014/main" id="{770F8371-0D90-D3F2-CE10-301731C33F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481" y="492296"/>
            <a:ext cx="10063319" cy="4336013"/>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E74B0ADB-527F-A58C-9372-D8502ED6F918}"/>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6</a:t>
            </a:fld>
            <a:endParaRPr lang="en-US" dirty="0"/>
          </a:p>
        </p:txBody>
      </p:sp>
      <p:sp>
        <p:nvSpPr>
          <p:cNvPr id="9" name="TextBox 8">
            <a:extLst>
              <a:ext uri="{FF2B5EF4-FFF2-40B4-BE49-F238E27FC236}">
                <a16:creationId xmlns:a16="http://schemas.microsoft.com/office/drawing/2014/main" id="{41363098-D9BF-ECB4-F666-22C18E6EC06E}"/>
              </a:ext>
            </a:extLst>
          </p:cNvPr>
          <p:cNvSpPr txBox="1"/>
          <p:nvPr/>
        </p:nvSpPr>
        <p:spPr>
          <a:xfrm>
            <a:off x="1219200" y="4932217"/>
            <a:ext cx="10190470" cy="1077218"/>
          </a:xfrm>
          <a:prstGeom prst="rect">
            <a:avLst/>
          </a:prstGeom>
          <a:noFill/>
        </p:spPr>
        <p:txBody>
          <a:bodyPr wrap="square" rtlCol="0">
            <a:spAutoFit/>
          </a:bodyPr>
          <a:lstStyle/>
          <a:p>
            <a:r>
              <a:rPr lang="en-US" sz="1600" dirty="0"/>
              <a:t>This count plot shows how high-traffic recipes are distributed across different recipe categories. From the graph, we can identify which categories attract the most high-traffic recipes, as well as those with relatively low traffic. It also highlights whether high traffic is spread evenly across categories or concentrated in specific ones, giving insight into which recipe types are most popular.</a:t>
            </a:r>
          </a:p>
        </p:txBody>
      </p:sp>
    </p:spTree>
    <p:extLst>
      <p:ext uri="{BB962C8B-B14F-4D97-AF65-F5344CB8AC3E}">
        <p14:creationId xmlns:p14="http://schemas.microsoft.com/office/powerpoint/2010/main" val="1658164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5156D-F766-8D01-2BF9-1AA366103E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47F8F-A452-E7E2-098E-ECBA1EECE14A}"/>
              </a:ext>
            </a:extLst>
          </p:cNvPr>
          <p:cNvSpPr>
            <a:spLocks noGrp="1"/>
          </p:cNvSpPr>
          <p:nvPr>
            <p:ph type="title"/>
          </p:nvPr>
        </p:nvSpPr>
        <p:spPr>
          <a:xfrm>
            <a:off x="1627118" y="512618"/>
            <a:ext cx="6166064" cy="533028"/>
          </a:xfrm>
        </p:spPr>
        <p:txBody>
          <a:bodyPr>
            <a:normAutofit/>
          </a:bodyPr>
          <a:lstStyle/>
          <a:p>
            <a:r>
              <a:rPr lang="en-US" sz="3200" dirty="0"/>
              <a:t>Model comparison</a:t>
            </a:r>
          </a:p>
        </p:txBody>
      </p:sp>
      <p:sp>
        <p:nvSpPr>
          <p:cNvPr id="14" name="Slide Number Placeholder 5">
            <a:extLst>
              <a:ext uri="{FF2B5EF4-FFF2-40B4-BE49-F238E27FC236}">
                <a16:creationId xmlns:a16="http://schemas.microsoft.com/office/drawing/2014/main" id="{C3BE68F6-44CE-0793-BADE-3389DBE6605A}"/>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7</a:t>
            </a:fld>
            <a:endParaRPr lang="en-US" dirty="0"/>
          </a:p>
        </p:txBody>
      </p:sp>
      <p:pic>
        <p:nvPicPr>
          <p:cNvPr id="5122" name="Picture 2">
            <a:extLst>
              <a:ext uri="{FF2B5EF4-FFF2-40B4-BE49-F238E27FC236}">
                <a16:creationId xmlns:a16="http://schemas.microsoft.com/office/drawing/2014/main" id="{896C746F-252B-0A15-E4A5-F3833A795A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954" y="1399309"/>
            <a:ext cx="8095164" cy="4359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005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4832B776-E386-1CF9-CC8F-2D2FF3EA7066}"/>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8</a:t>
            </a:fld>
            <a:endParaRPr lang="en-US" dirty="0"/>
          </a:p>
        </p:txBody>
      </p:sp>
      <p:pic>
        <p:nvPicPr>
          <p:cNvPr id="4100" name="Picture 4">
            <a:extLst>
              <a:ext uri="{FF2B5EF4-FFF2-40B4-BE49-F238E27FC236}">
                <a16:creationId xmlns:a16="http://schemas.microsoft.com/office/drawing/2014/main" id="{A2851453-712F-DB42-B497-F72A3C0815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911" y="665018"/>
            <a:ext cx="9119271" cy="515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1821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8007E-575D-A23B-12CA-1744DB5E9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D3D27-EA90-664E-4AE3-82F2FA530BD3}"/>
              </a:ext>
            </a:extLst>
          </p:cNvPr>
          <p:cNvSpPr>
            <a:spLocks noGrp="1"/>
          </p:cNvSpPr>
          <p:nvPr>
            <p:ph type="title"/>
          </p:nvPr>
        </p:nvSpPr>
        <p:spPr>
          <a:xfrm>
            <a:off x="1585554" y="704768"/>
            <a:ext cx="6166064" cy="533028"/>
          </a:xfrm>
        </p:spPr>
        <p:txBody>
          <a:bodyPr>
            <a:normAutofit/>
          </a:bodyPr>
          <a:lstStyle/>
          <a:p>
            <a:r>
              <a:rPr lang="en-US" sz="3200" dirty="0" err="1"/>
              <a:t>OUtcomes</a:t>
            </a:r>
            <a:endParaRPr lang="en-US" sz="3200" dirty="0"/>
          </a:p>
        </p:txBody>
      </p:sp>
      <p:sp>
        <p:nvSpPr>
          <p:cNvPr id="14" name="Slide Number Placeholder 5">
            <a:extLst>
              <a:ext uri="{FF2B5EF4-FFF2-40B4-BE49-F238E27FC236}">
                <a16:creationId xmlns:a16="http://schemas.microsoft.com/office/drawing/2014/main" id="{13644E1E-74C6-B912-CC63-9DD1293F9192}"/>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9</a:t>
            </a:fld>
            <a:endParaRPr lang="en-US" dirty="0"/>
          </a:p>
        </p:txBody>
      </p:sp>
      <p:graphicFrame>
        <p:nvGraphicFramePr>
          <p:cNvPr id="4" name="Table 3">
            <a:extLst>
              <a:ext uri="{FF2B5EF4-FFF2-40B4-BE49-F238E27FC236}">
                <a16:creationId xmlns:a16="http://schemas.microsoft.com/office/drawing/2014/main" id="{F0199D0C-365D-71F4-1C26-83990B2DBF60}"/>
              </a:ext>
            </a:extLst>
          </p:cNvPr>
          <p:cNvGraphicFramePr>
            <a:graphicFrameLocks noGrp="1"/>
          </p:cNvGraphicFramePr>
          <p:nvPr>
            <p:extLst>
              <p:ext uri="{D42A27DB-BD31-4B8C-83A1-F6EECF244321}">
                <p14:modId xmlns:p14="http://schemas.microsoft.com/office/powerpoint/2010/main" val="2070279658"/>
              </p:ext>
            </p:extLst>
          </p:nvPr>
        </p:nvGraphicFramePr>
        <p:xfrm>
          <a:off x="1011382" y="2147455"/>
          <a:ext cx="8672945" cy="3406223"/>
        </p:xfrm>
        <a:graphic>
          <a:graphicData uri="http://schemas.openxmlformats.org/drawingml/2006/table">
            <a:tbl>
              <a:tblPr firstRow="1" bandRow="1">
                <a:tableStyleId>{1FECB4D8-DB02-4DC6-A0A2-4F2EBAE1DC90}</a:tableStyleId>
              </a:tblPr>
              <a:tblGrid>
                <a:gridCol w="2337389">
                  <a:extLst>
                    <a:ext uri="{9D8B030D-6E8A-4147-A177-3AD203B41FA5}">
                      <a16:colId xmlns:a16="http://schemas.microsoft.com/office/drawing/2014/main" val="3604800437"/>
                    </a:ext>
                  </a:extLst>
                </a:gridCol>
                <a:gridCol w="1583889">
                  <a:extLst>
                    <a:ext uri="{9D8B030D-6E8A-4147-A177-3AD203B41FA5}">
                      <a16:colId xmlns:a16="http://schemas.microsoft.com/office/drawing/2014/main" val="2007330491"/>
                    </a:ext>
                  </a:extLst>
                </a:gridCol>
                <a:gridCol w="1583889">
                  <a:extLst>
                    <a:ext uri="{9D8B030D-6E8A-4147-A177-3AD203B41FA5}">
                      <a16:colId xmlns:a16="http://schemas.microsoft.com/office/drawing/2014/main" val="62873914"/>
                    </a:ext>
                  </a:extLst>
                </a:gridCol>
                <a:gridCol w="1583889">
                  <a:extLst>
                    <a:ext uri="{9D8B030D-6E8A-4147-A177-3AD203B41FA5}">
                      <a16:colId xmlns:a16="http://schemas.microsoft.com/office/drawing/2014/main" val="208625043"/>
                    </a:ext>
                  </a:extLst>
                </a:gridCol>
                <a:gridCol w="1583889">
                  <a:extLst>
                    <a:ext uri="{9D8B030D-6E8A-4147-A177-3AD203B41FA5}">
                      <a16:colId xmlns:a16="http://schemas.microsoft.com/office/drawing/2014/main" val="1802717605"/>
                    </a:ext>
                  </a:extLst>
                </a:gridCol>
              </a:tblGrid>
              <a:tr h="619792">
                <a:tc>
                  <a:txBody>
                    <a:bodyPr/>
                    <a:lstStyle/>
                    <a:p>
                      <a:r>
                        <a:rPr lang="en-PH" b="1" dirty="0">
                          <a:solidFill>
                            <a:schemeClr val="tx1"/>
                          </a:solidFill>
                        </a:rPr>
                        <a:t>Model Name</a:t>
                      </a:r>
                    </a:p>
                  </a:txBody>
                  <a:tcPr/>
                </a:tc>
                <a:tc>
                  <a:txBody>
                    <a:bodyPr/>
                    <a:lstStyle/>
                    <a:p>
                      <a:r>
                        <a:rPr lang="en-PH" b="1" dirty="0">
                          <a:solidFill>
                            <a:schemeClr val="tx1"/>
                          </a:solidFill>
                        </a:rPr>
                        <a:t>Accuracy</a:t>
                      </a:r>
                    </a:p>
                  </a:txBody>
                  <a:tcPr/>
                </a:tc>
                <a:tc>
                  <a:txBody>
                    <a:bodyPr/>
                    <a:lstStyle/>
                    <a:p>
                      <a:r>
                        <a:rPr lang="en-PH" b="1" dirty="0">
                          <a:solidFill>
                            <a:schemeClr val="tx1"/>
                          </a:solidFill>
                        </a:rPr>
                        <a:t>Precision</a:t>
                      </a:r>
                    </a:p>
                  </a:txBody>
                  <a:tcPr/>
                </a:tc>
                <a:tc>
                  <a:txBody>
                    <a:bodyPr/>
                    <a:lstStyle/>
                    <a:p>
                      <a:r>
                        <a:rPr lang="en-PH" b="1" dirty="0">
                          <a:solidFill>
                            <a:schemeClr val="tx1"/>
                          </a:solidFill>
                        </a:rPr>
                        <a:t>Recall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b="1" dirty="0">
                          <a:solidFill>
                            <a:schemeClr val="tx1"/>
                          </a:solidFill>
                        </a:rPr>
                        <a:t>F1-Score</a:t>
                      </a:r>
                    </a:p>
                    <a:p>
                      <a:endParaRPr lang="en-PH" b="1" dirty="0">
                        <a:solidFill>
                          <a:schemeClr val="tx1"/>
                        </a:solidFill>
                      </a:endParaRPr>
                    </a:p>
                  </a:txBody>
                  <a:tcPr/>
                </a:tc>
                <a:extLst>
                  <a:ext uri="{0D108BD9-81ED-4DB2-BD59-A6C34878D82A}">
                    <a16:rowId xmlns:a16="http://schemas.microsoft.com/office/drawing/2014/main" val="770657194"/>
                  </a:ext>
                </a:extLst>
              </a:tr>
              <a:tr h="647800">
                <a:tc>
                  <a:txBody>
                    <a:bodyPr/>
                    <a:lstStyle/>
                    <a:p>
                      <a:r>
                        <a:rPr lang="en-PH" b="0" dirty="0">
                          <a:solidFill>
                            <a:schemeClr val="tx1"/>
                          </a:solidFill>
                        </a:rPr>
                        <a:t>Logistic Regression</a:t>
                      </a:r>
                    </a:p>
                  </a:txBody>
                  <a:tcPr/>
                </a:tc>
                <a:tc>
                  <a:txBody>
                    <a:bodyPr/>
                    <a:lstStyle/>
                    <a:p>
                      <a:r>
                        <a:rPr lang="en-PH" b="0" dirty="0">
                          <a:solidFill>
                            <a:schemeClr val="tx1"/>
                          </a:solidFill>
                        </a:rPr>
                        <a:t>74%</a:t>
                      </a:r>
                    </a:p>
                  </a:txBody>
                  <a:tcPr/>
                </a:tc>
                <a:tc>
                  <a:txBody>
                    <a:bodyPr/>
                    <a:lstStyle/>
                    <a:p>
                      <a:r>
                        <a:rPr lang="en-PH" b="0" dirty="0">
                          <a:solidFill>
                            <a:schemeClr val="tx1"/>
                          </a:solidFill>
                        </a:rPr>
                        <a:t>75%</a:t>
                      </a:r>
                    </a:p>
                  </a:txBody>
                  <a:tcPr/>
                </a:tc>
                <a:tc>
                  <a:txBody>
                    <a:bodyPr/>
                    <a:lstStyle/>
                    <a:p>
                      <a:r>
                        <a:rPr lang="en-PH" b="0" dirty="0">
                          <a:solidFill>
                            <a:schemeClr val="tx1"/>
                          </a:solidFill>
                        </a:rPr>
                        <a:t>85%</a:t>
                      </a:r>
                    </a:p>
                  </a:txBody>
                  <a:tcPr/>
                </a:tc>
                <a:tc>
                  <a:txBody>
                    <a:bodyPr/>
                    <a:lstStyle/>
                    <a:p>
                      <a:r>
                        <a:rPr lang="en-PH" b="0" dirty="0">
                          <a:solidFill>
                            <a:schemeClr val="tx1"/>
                          </a:solidFill>
                        </a:rPr>
                        <a:t>80%</a:t>
                      </a:r>
                    </a:p>
                  </a:txBody>
                  <a:tcPr/>
                </a:tc>
                <a:extLst>
                  <a:ext uri="{0D108BD9-81ED-4DB2-BD59-A6C34878D82A}">
                    <a16:rowId xmlns:a16="http://schemas.microsoft.com/office/drawing/2014/main" val="316939163"/>
                  </a:ext>
                </a:extLst>
              </a:tr>
              <a:tr h="490181">
                <a:tc>
                  <a:txBody>
                    <a:bodyPr/>
                    <a:lstStyle/>
                    <a:p>
                      <a:r>
                        <a:rPr lang="en-PH" b="0" dirty="0">
                          <a:solidFill>
                            <a:schemeClr val="tx1"/>
                          </a:solidFill>
                        </a:rPr>
                        <a:t>Decision Tree</a:t>
                      </a:r>
                    </a:p>
                  </a:txBody>
                  <a:tcPr/>
                </a:tc>
                <a:tc>
                  <a:txBody>
                    <a:bodyPr/>
                    <a:lstStyle/>
                    <a:p>
                      <a:r>
                        <a:rPr lang="en-PH" b="0" dirty="0">
                          <a:solidFill>
                            <a:schemeClr val="tx1"/>
                          </a:solidFill>
                        </a:rPr>
                        <a:t>62%</a:t>
                      </a:r>
                    </a:p>
                  </a:txBody>
                  <a:tcPr/>
                </a:tc>
                <a:tc>
                  <a:txBody>
                    <a:bodyPr/>
                    <a:lstStyle/>
                    <a:p>
                      <a:r>
                        <a:rPr lang="en-PH" b="0" dirty="0">
                          <a:solidFill>
                            <a:schemeClr val="tx1"/>
                          </a:solidFill>
                        </a:rPr>
                        <a:t>68%</a:t>
                      </a:r>
                    </a:p>
                  </a:txBody>
                  <a:tcPr/>
                </a:tc>
                <a:tc>
                  <a:txBody>
                    <a:bodyPr/>
                    <a:lstStyle/>
                    <a:p>
                      <a:r>
                        <a:rPr lang="en-PH" b="0" dirty="0">
                          <a:solidFill>
                            <a:schemeClr val="tx1"/>
                          </a:solidFill>
                        </a:rPr>
                        <a:t>69%</a:t>
                      </a:r>
                    </a:p>
                  </a:txBody>
                  <a:tcPr/>
                </a:tc>
                <a:tc>
                  <a:txBody>
                    <a:bodyPr/>
                    <a:lstStyle/>
                    <a:p>
                      <a:r>
                        <a:rPr lang="en-PH" b="0" dirty="0">
                          <a:solidFill>
                            <a:schemeClr val="tx1"/>
                          </a:solidFill>
                        </a:rPr>
                        <a:t>68%</a:t>
                      </a:r>
                    </a:p>
                  </a:txBody>
                  <a:tcPr/>
                </a:tc>
                <a:extLst>
                  <a:ext uri="{0D108BD9-81ED-4DB2-BD59-A6C34878D82A}">
                    <a16:rowId xmlns:a16="http://schemas.microsoft.com/office/drawing/2014/main" val="3611023373"/>
                  </a:ext>
                </a:extLst>
              </a:tr>
              <a:tr h="490181">
                <a:tc>
                  <a:txBody>
                    <a:bodyPr/>
                    <a:lstStyle/>
                    <a:p>
                      <a:r>
                        <a:rPr lang="en-PH" b="0" dirty="0">
                          <a:solidFill>
                            <a:schemeClr val="tx1"/>
                          </a:solidFill>
                        </a:rPr>
                        <a:t>Random Forest</a:t>
                      </a:r>
                    </a:p>
                  </a:txBody>
                  <a:tcPr/>
                </a:tc>
                <a:tc>
                  <a:txBody>
                    <a:bodyPr/>
                    <a:lstStyle/>
                    <a:p>
                      <a:r>
                        <a:rPr lang="en-PH" b="0" dirty="0">
                          <a:solidFill>
                            <a:schemeClr val="tx1"/>
                          </a:solidFill>
                        </a:rPr>
                        <a:t>70%</a:t>
                      </a:r>
                    </a:p>
                  </a:txBody>
                  <a:tcPr/>
                </a:tc>
                <a:tc>
                  <a:txBody>
                    <a:bodyPr/>
                    <a:lstStyle/>
                    <a:p>
                      <a:r>
                        <a:rPr lang="en-PH" b="0" dirty="0">
                          <a:solidFill>
                            <a:schemeClr val="tx1"/>
                          </a:solidFill>
                        </a:rPr>
                        <a:t>72%</a:t>
                      </a:r>
                    </a:p>
                  </a:txBody>
                  <a:tcPr/>
                </a:tc>
                <a:tc>
                  <a:txBody>
                    <a:bodyPr/>
                    <a:lstStyle/>
                    <a:p>
                      <a:r>
                        <a:rPr lang="en-PH" b="0" dirty="0">
                          <a:solidFill>
                            <a:schemeClr val="tx1"/>
                          </a:solidFill>
                        </a:rPr>
                        <a:t>81%</a:t>
                      </a:r>
                    </a:p>
                  </a:txBody>
                  <a:tcPr/>
                </a:tc>
                <a:tc>
                  <a:txBody>
                    <a:bodyPr/>
                    <a:lstStyle/>
                    <a:p>
                      <a:r>
                        <a:rPr lang="en-PH" b="0" dirty="0">
                          <a:solidFill>
                            <a:schemeClr val="tx1"/>
                          </a:solidFill>
                        </a:rPr>
                        <a:t>76%</a:t>
                      </a:r>
                    </a:p>
                  </a:txBody>
                  <a:tcPr/>
                </a:tc>
                <a:extLst>
                  <a:ext uri="{0D108BD9-81ED-4DB2-BD59-A6C34878D82A}">
                    <a16:rowId xmlns:a16="http://schemas.microsoft.com/office/drawing/2014/main" val="3641008982"/>
                  </a:ext>
                </a:extLst>
              </a:tr>
              <a:tr h="490181">
                <a:tc>
                  <a:txBody>
                    <a:bodyPr/>
                    <a:lstStyle/>
                    <a:p>
                      <a:r>
                        <a:rPr lang="en-PH" b="0" dirty="0">
                          <a:solidFill>
                            <a:schemeClr val="tx1"/>
                          </a:solidFill>
                        </a:rPr>
                        <a:t>SVM</a:t>
                      </a:r>
                    </a:p>
                  </a:txBody>
                  <a:tcPr/>
                </a:tc>
                <a:tc>
                  <a:txBody>
                    <a:bodyPr/>
                    <a:lstStyle/>
                    <a:p>
                      <a:r>
                        <a:rPr lang="en-PH" b="0" dirty="0">
                          <a:solidFill>
                            <a:schemeClr val="tx1"/>
                          </a:solidFill>
                        </a:rPr>
                        <a:t>59%</a:t>
                      </a:r>
                    </a:p>
                  </a:txBody>
                  <a:tcPr/>
                </a:tc>
                <a:tc>
                  <a:txBody>
                    <a:bodyPr/>
                    <a:lstStyle/>
                    <a:p>
                      <a:r>
                        <a:rPr lang="en-PH" b="0" dirty="0">
                          <a:solidFill>
                            <a:schemeClr val="tx1"/>
                          </a:solidFill>
                        </a:rPr>
                        <a:t>59%</a:t>
                      </a:r>
                    </a:p>
                  </a:txBody>
                  <a:tcPr/>
                </a:tc>
                <a:tc>
                  <a:txBody>
                    <a:bodyPr/>
                    <a:lstStyle/>
                    <a:p>
                      <a:r>
                        <a:rPr lang="en-PH" b="0" dirty="0">
                          <a:solidFill>
                            <a:schemeClr val="tx1"/>
                          </a:solidFill>
                        </a:rPr>
                        <a:t>100%</a:t>
                      </a:r>
                    </a:p>
                  </a:txBody>
                  <a:tcPr/>
                </a:tc>
                <a:tc>
                  <a:txBody>
                    <a:bodyPr/>
                    <a:lstStyle/>
                    <a:p>
                      <a:r>
                        <a:rPr lang="en-PH" b="0" dirty="0">
                          <a:solidFill>
                            <a:schemeClr val="tx1"/>
                          </a:solidFill>
                        </a:rPr>
                        <a:t>74%</a:t>
                      </a:r>
                    </a:p>
                  </a:txBody>
                  <a:tcPr/>
                </a:tc>
                <a:extLst>
                  <a:ext uri="{0D108BD9-81ED-4DB2-BD59-A6C34878D82A}">
                    <a16:rowId xmlns:a16="http://schemas.microsoft.com/office/drawing/2014/main" val="2933585235"/>
                  </a:ext>
                </a:extLst>
              </a:tr>
              <a:tr h="647800">
                <a:tc>
                  <a:txBody>
                    <a:bodyPr/>
                    <a:lstStyle/>
                    <a:p>
                      <a:r>
                        <a:rPr lang="en-PH" b="0" dirty="0">
                          <a:solidFill>
                            <a:schemeClr val="tx1"/>
                          </a:solidFill>
                        </a:rPr>
                        <a:t>Gradient Boosting</a:t>
                      </a:r>
                    </a:p>
                  </a:txBody>
                  <a:tcPr/>
                </a:tc>
                <a:tc>
                  <a:txBody>
                    <a:bodyPr/>
                    <a:lstStyle/>
                    <a:p>
                      <a:r>
                        <a:rPr lang="en-PH" b="0" dirty="0">
                          <a:solidFill>
                            <a:schemeClr val="tx1"/>
                          </a:solidFill>
                        </a:rPr>
                        <a:t>70%</a:t>
                      </a:r>
                    </a:p>
                  </a:txBody>
                  <a:tcPr/>
                </a:tc>
                <a:tc>
                  <a:txBody>
                    <a:bodyPr/>
                    <a:lstStyle/>
                    <a:p>
                      <a:r>
                        <a:rPr lang="en-PH" b="0" dirty="0">
                          <a:solidFill>
                            <a:schemeClr val="tx1"/>
                          </a:solidFill>
                        </a:rPr>
                        <a:t>71%</a:t>
                      </a:r>
                    </a:p>
                  </a:txBody>
                  <a:tcPr/>
                </a:tc>
                <a:tc>
                  <a:txBody>
                    <a:bodyPr/>
                    <a:lstStyle/>
                    <a:p>
                      <a:r>
                        <a:rPr lang="en-PH" b="0" dirty="0">
                          <a:solidFill>
                            <a:schemeClr val="tx1"/>
                          </a:solidFill>
                        </a:rPr>
                        <a:t>82%</a:t>
                      </a:r>
                    </a:p>
                  </a:txBody>
                  <a:tcPr/>
                </a:tc>
                <a:tc>
                  <a:txBody>
                    <a:bodyPr/>
                    <a:lstStyle/>
                    <a:p>
                      <a:r>
                        <a:rPr lang="en-PH" b="0" dirty="0">
                          <a:solidFill>
                            <a:schemeClr val="tx1"/>
                          </a:solidFill>
                        </a:rPr>
                        <a:t>76%</a:t>
                      </a:r>
                    </a:p>
                  </a:txBody>
                  <a:tcPr/>
                </a:tc>
                <a:extLst>
                  <a:ext uri="{0D108BD9-81ED-4DB2-BD59-A6C34878D82A}">
                    <a16:rowId xmlns:a16="http://schemas.microsoft.com/office/drawing/2014/main" val="2993856218"/>
                  </a:ext>
                </a:extLst>
              </a:tr>
            </a:tbl>
          </a:graphicData>
        </a:graphic>
      </p:graphicFrame>
      <p:sp>
        <p:nvSpPr>
          <p:cNvPr id="5" name="TextBox 4">
            <a:extLst>
              <a:ext uri="{FF2B5EF4-FFF2-40B4-BE49-F238E27FC236}">
                <a16:creationId xmlns:a16="http://schemas.microsoft.com/office/drawing/2014/main" id="{5BEF9906-F833-8870-FC74-76BBBE567524}"/>
              </a:ext>
            </a:extLst>
          </p:cNvPr>
          <p:cNvSpPr txBox="1"/>
          <p:nvPr/>
        </p:nvSpPr>
        <p:spPr>
          <a:xfrm>
            <a:off x="1011382" y="1507959"/>
            <a:ext cx="5798128" cy="369332"/>
          </a:xfrm>
          <a:prstGeom prst="rect">
            <a:avLst/>
          </a:prstGeom>
          <a:noFill/>
        </p:spPr>
        <p:txBody>
          <a:bodyPr wrap="square" rtlCol="0">
            <a:spAutoFit/>
          </a:bodyPr>
          <a:lstStyle/>
          <a:p>
            <a:r>
              <a:rPr lang="en-PH" dirty="0"/>
              <a:t>The Logistic Regression model is performing better.</a:t>
            </a:r>
          </a:p>
        </p:txBody>
      </p:sp>
    </p:spTree>
    <p:extLst>
      <p:ext uri="{BB962C8B-B14F-4D97-AF65-F5344CB8AC3E}">
        <p14:creationId xmlns:p14="http://schemas.microsoft.com/office/powerpoint/2010/main" val="2846309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56469-7C2F-3031-6508-BCEBB6C03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42551C-1237-9C56-0B06-D1C1920121C4}"/>
              </a:ext>
            </a:extLst>
          </p:cNvPr>
          <p:cNvSpPr>
            <a:spLocks noGrp="1"/>
          </p:cNvSpPr>
          <p:nvPr>
            <p:ph type="title"/>
          </p:nvPr>
        </p:nvSpPr>
        <p:spPr>
          <a:xfrm>
            <a:off x="1481716" y="637309"/>
            <a:ext cx="3443576" cy="567664"/>
          </a:xfrm>
        </p:spPr>
        <p:txBody>
          <a:bodyPr>
            <a:normAutofit/>
          </a:bodyPr>
          <a:lstStyle/>
          <a:p>
            <a:r>
              <a:rPr lang="en-US" sz="3200" dirty="0"/>
              <a:t>Key findings</a:t>
            </a:r>
          </a:p>
        </p:txBody>
      </p:sp>
      <p:sp>
        <p:nvSpPr>
          <p:cNvPr id="14" name="Slide Number Placeholder 5">
            <a:extLst>
              <a:ext uri="{FF2B5EF4-FFF2-40B4-BE49-F238E27FC236}">
                <a16:creationId xmlns:a16="http://schemas.microsoft.com/office/drawing/2014/main" id="{6F4A0A58-8B25-A801-B5A3-D0F4CC4A148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10</a:t>
            </a:fld>
            <a:endParaRPr lang="en-US" dirty="0"/>
          </a:p>
        </p:txBody>
      </p:sp>
      <p:sp>
        <p:nvSpPr>
          <p:cNvPr id="4" name="TextBox 3">
            <a:extLst>
              <a:ext uri="{FF2B5EF4-FFF2-40B4-BE49-F238E27FC236}">
                <a16:creationId xmlns:a16="http://schemas.microsoft.com/office/drawing/2014/main" id="{855ED564-2FA2-3EDD-008A-3FC5FE9476D0}"/>
              </a:ext>
            </a:extLst>
          </p:cNvPr>
          <p:cNvSpPr txBox="1"/>
          <p:nvPr/>
        </p:nvSpPr>
        <p:spPr>
          <a:xfrm>
            <a:off x="1094510" y="1563775"/>
            <a:ext cx="7661564" cy="465691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PH" sz="2000" dirty="0"/>
              <a:t>Nutritional features are right-skewed with clear outliers, especially in sugar and calories.</a:t>
            </a:r>
          </a:p>
          <a:p>
            <a:pPr marL="285750" indent="-285750">
              <a:lnSpc>
                <a:spcPct val="150000"/>
              </a:lnSpc>
              <a:buFont typeface="Arial" panose="020B0604020202020204" pitchFamily="34" charset="0"/>
              <a:buChar char="•"/>
            </a:pPr>
            <a:r>
              <a:rPr lang="en-PH" sz="2000" dirty="0"/>
              <a:t>Recipes with higher calorie and sugar content tend to receive more traffic.</a:t>
            </a:r>
          </a:p>
          <a:p>
            <a:pPr marL="285750" indent="-285750">
              <a:lnSpc>
                <a:spcPct val="150000"/>
              </a:lnSpc>
              <a:buFont typeface="Arial" panose="020B0604020202020204" pitchFamily="34" charset="0"/>
              <a:buChar char="•"/>
            </a:pPr>
            <a:r>
              <a:rPr lang="en-PH" sz="2000" dirty="0"/>
              <a:t>Logistic Regression achieved the best balance (Accuracy 76%, F1-Score 80%), outperforming Decision Tree, Random Forest, SVM, and Gradient Boosting.</a:t>
            </a:r>
          </a:p>
          <a:p>
            <a:pPr marL="285750" indent="-285750">
              <a:lnSpc>
                <a:spcPct val="150000"/>
              </a:lnSpc>
              <a:buFont typeface="Arial" panose="020B0604020202020204" pitchFamily="34" charset="0"/>
              <a:buChar char="•"/>
            </a:pPr>
            <a:r>
              <a:rPr lang="en-PH" sz="2000" dirty="0"/>
              <a:t>Identifying high-traffic recipes enables better promotion and increased audience engagement.</a:t>
            </a:r>
          </a:p>
          <a:p>
            <a:pPr marL="285750" indent="-285750">
              <a:lnSpc>
                <a:spcPct val="150000"/>
              </a:lnSpc>
              <a:buFont typeface="Arial" panose="020B0604020202020204" pitchFamily="34" charset="0"/>
              <a:buChar char="•"/>
            </a:pPr>
            <a:endParaRPr lang="en-PH" sz="2000" dirty="0"/>
          </a:p>
        </p:txBody>
      </p:sp>
    </p:spTree>
    <p:extLst>
      <p:ext uri="{BB962C8B-B14F-4D97-AF65-F5344CB8AC3E}">
        <p14:creationId xmlns:p14="http://schemas.microsoft.com/office/powerpoint/2010/main" val="2909070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53165-067B-06C6-9A62-158389E3FBC4}"/>
            </a:ext>
          </a:extLst>
        </p:cNvPr>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AFBB6860-1883-65A6-F74A-DCAADEFD5E6A}"/>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11</a:t>
            </a:fld>
            <a:endParaRPr lang="en-US" dirty="0"/>
          </a:p>
        </p:txBody>
      </p:sp>
      <p:sp>
        <p:nvSpPr>
          <p:cNvPr id="2" name="TextBox 1">
            <a:extLst>
              <a:ext uri="{FF2B5EF4-FFF2-40B4-BE49-F238E27FC236}">
                <a16:creationId xmlns:a16="http://schemas.microsoft.com/office/drawing/2014/main" id="{A4C66795-96F1-3470-0CDE-F9989B9838C8}"/>
              </a:ext>
            </a:extLst>
          </p:cNvPr>
          <p:cNvSpPr txBox="1"/>
          <p:nvPr/>
        </p:nvSpPr>
        <p:spPr>
          <a:xfrm>
            <a:off x="921327" y="762002"/>
            <a:ext cx="6303818" cy="707886"/>
          </a:xfrm>
          <a:prstGeom prst="rect">
            <a:avLst/>
          </a:prstGeom>
          <a:noFill/>
        </p:spPr>
        <p:txBody>
          <a:bodyPr wrap="square" rtlCol="0">
            <a:spAutoFit/>
          </a:bodyPr>
          <a:lstStyle/>
          <a:p>
            <a:r>
              <a:rPr lang="en-PH" sz="4000" dirty="0"/>
              <a:t>Recommendations</a:t>
            </a:r>
          </a:p>
        </p:txBody>
      </p:sp>
      <p:sp>
        <p:nvSpPr>
          <p:cNvPr id="3" name="TextBox 2">
            <a:extLst>
              <a:ext uri="{FF2B5EF4-FFF2-40B4-BE49-F238E27FC236}">
                <a16:creationId xmlns:a16="http://schemas.microsoft.com/office/drawing/2014/main" id="{DA0007F6-99A0-1B4D-3598-D150AA34C3DE}"/>
              </a:ext>
            </a:extLst>
          </p:cNvPr>
          <p:cNvSpPr txBox="1"/>
          <p:nvPr/>
        </p:nvSpPr>
        <p:spPr>
          <a:xfrm>
            <a:off x="1226127" y="1974273"/>
            <a:ext cx="9292695"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t>Deploy Logistic Regression as Primary Model</a:t>
            </a:r>
            <a:r>
              <a:rPr lang="en-US" dirty="0"/>
              <a:t>: It consistently delivers strong accuracy and F1-scores across training and test sets</a:t>
            </a:r>
            <a:r>
              <a:rPr lang="en-US" b="1" dirty="0"/>
              <a:t>.</a:t>
            </a:r>
          </a:p>
          <a:p>
            <a:pPr marL="285750" indent="-285750">
              <a:buFont typeface="Arial" panose="020B0604020202020204" pitchFamily="34" charset="0"/>
              <a:buChar char="•"/>
            </a:pPr>
            <a:r>
              <a:rPr lang="en-US" b="1" dirty="0"/>
              <a:t>Reliable Generalization</a:t>
            </a:r>
            <a:r>
              <a:rPr lang="en-US" dirty="0"/>
              <a:t>: Demonstrates minimal overfitting, making it well-suited for real-world prediction tasks.</a:t>
            </a:r>
          </a:p>
          <a:p>
            <a:pPr marL="285750" indent="-285750">
              <a:buFont typeface="Arial" panose="020B0604020202020204" pitchFamily="34" charset="0"/>
              <a:buChar char="•"/>
            </a:pPr>
            <a:r>
              <a:rPr lang="en-US" b="1" dirty="0"/>
              <a:t>Low Maintenance for Production</a:t>
            </a:r>
            <a:r>
              <a:rPr lang="en-US" dirty="0"/>
              <a:t>: Performs well without extensive hyperparameter tuning or complex preprocessing.</a:t>
            </a:r>
          </a:p>
          <a:p>
            <a:pPr marL="285750" indent="-285750">
              <a:buFont typeface="Arial" panose="020B0604020202020204" pitchFamily="34" charset="0"/>
              <a:buChar char="•"/>
            </a:pPr>
            <a:r>
              <a:rPr lang="en-US" b="1" dirty="0"/>
              <a:t>Supports Scalable Monitoring</a:t>
            </a:r>
            <a:r>
              <a:rPr lang="en-US" dirty="0"/>
              <a:t>: Easily integrates into a retraining pipeline to adapt as new recipe data becomes available.</a:t>
            </a:r>
            <a:endParaRPr lang="en-PH" dirty="0"/>
          </a:p>
        </p:txBody>
      </p:sp>
    </p:spTree>
    <p:extLst>
      <p:ext uri="{BB962C8B-B14F-4D97-AF65-F5344CB8AC3E}">
        <p14:creationId xmlns:p14="http://schemas.microsoft.com/office/powerpoint/2010/main" val="3359528255"/>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2.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presentation</Template>
  <TotalTime>270</TotalTime>
  <Words>375</Words>
  <Application>Microsoft Office PowerPoint</Application>
  <PresentationFormat>Widescreen</PresentationFormat>
  <Paragraphs>76</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Tenorite</vt:lpstr>
      <vt:lpstr>Custom</vt:lpstr>
      <vt:lpstr>Recipe site traffic</vt:lpstr>
      <vt:lpstr>Business goal</vt:lpstr>
      <vt:lpstr>Data Cleaning</vt:lpstr>
      <vt:lpstr>EXPLORATORY ANALYSIS</vt:lpstr>
      <vt:lpstr>PowerPoint Presentation</vt:lpstr>
      <vt:lpstr>PowerPoint Presentation</vt:lpstr>
      <vt:lpstr>Model comparison</vt:lpstr>
      <vt:lpstr>PowerPoint Presentation</vt:lpstr>
      <vt:lpstr>OUtcomes</vt:lpstr>
      <vt:lpstr>Key findings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Clain Raniel Asuncion</dc:creator>
  <cp:lastModifiedBy>Clain Raniel Asuncion</cp:lastModifiedBy>
  <cp:revision>2</cp:revision>
  <dcterms:created xsi:type="dcterms:W3CDTF">2025-09-17T11:08:02Z</dcterms:created>
  <dcterms:modified xsi:type="dcterms:W3CDTF">2025-09-21T02:39:38Z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